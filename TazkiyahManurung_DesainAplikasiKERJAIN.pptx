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9" y="0"/>
            <a:ext cx="4754880" cy="6858000"/>
          </a:xfrm>
          <a:prstGeom prst="rect">
            <a:avLst/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58200" y="594360"/>
            <a:ext cx="2377440" cy="2377440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3474720"/>
            <a:ext cx="1508760" cy="1508760"/>
          </a:xfrm>
          <a:prstGeom prst="ellipse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35240" y="443484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13648" y="1965960"/>
            <a:ext cx="2103120" cy="2103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79408" y="2395728"/>
            <a:ext cx="1371600" cy="201168"/>
          </a:xfrm>
          <a:prstGeom prst="roundRect">
            <a:avLst>
              <a:gd name="adj" fmla="val 16000"/>
            </a:avLst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79408" y="2834640"/>
            <a:ext cx="960120" cy="164592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79408" y="3246120"/>
            <a:ext cx="1188720" cy="164592"/>
          </a:xfrm>
          <a:prstGeom prst="roundRect">
            <a:avLst>
              <a:gd name="adj" fmla="val 16000"/>
            </a:avLst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9408" y="3520440"/>
            <a:ext cx="457200" cy="4114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2000" b="1">
                <a:solidFill>
                  <a:srgbClr val="172B4D"/>
                </a:solidFill>
                <a:latin typeface="Aptos"/>
              </a:rPr>
              <a:t>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115568"/>
            <a:ext cx="4297680" cy="3200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C7F464"/>
                </a:solidFill>
                <a:latin typeface="Aptos"/>
              </a:rPr>
              <a:t>DESAIN APLIKASI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6126480" cy="10058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KERJAIN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743200"/>
            <a:ext cx="5943600" cy="5943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ptos"/>
              </a:rPr>
              <a:t>Cari kerja. Lebih mudah.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5577840" cy="7772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600" b="0">
                <a:solidFill>
                  <a:srgbClr val="DCE5F5"/>
                </a:solidFill>
                <a:latin typeface="Aptos"/>
              </a:rPr>
              <a:t>Konsep UI/UX aplikasi pencari kerja yang simpel, jelas, dan ramah pengguna.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00600"/>
            <a:ext cx="2011680" cy="292608"/>
          </a:xfrm>
          <a:prstGeom prst="roundRect">
            <a:avLst>
              <a:gd name="adj" fmla="val 16000"/>
            </a:avLst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809744"/>
            <a:ext cx="193852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REDESAIN • 8 LAYAR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6126480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DCE5F5"/>
                </a:solidFill>
                <a:latin typeface="Aptos"/>
              </a:rPr>
              <a:t>Palet baru  •  Navigasi sederhana  •  Fokus pada informasi penting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2600" b="1">
                <a:solidFill>
                  <a:srgbClr val="172B4D"/>
                </a:solidFill>
                <a:latin typeface="Aptos"/>
              </a:rPr>
              <a:t>Konsep desain baru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5728A"/>
                </a:solidFill>
                <a:latin typeface="Aptos"/>
              </a:rPr>
              <a:t>Arah desain: sederhana, modern, dan mudah dipahami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767F5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4754880" cy="4526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743200" cy="3200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200" b="1">
                <a:solidFill>
                  <a:srgbClr val="3767F5"/>
                </a:solidFill>
                <a:latin typeface="Aptos"/>
              </a:rPr>
              <a:t>PRINSIP UTAMA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240280"/>
            <a:ext cx="347472" cy="347472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347472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31136"/>
            <a:ext cx="347472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Satu fokus per layar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87168"/>
            <a:ext cx="3566160" cy="3840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5728A"/>
                </a:solidFill>
                <a:latin typeface="Aptos"/>
              </a:rPr>
              <a:t>Pengguna tidak dibebani terlalu banyak pilihan.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081528"/>
            <a:ext cx="347472" cy="347472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81528"/>
            <a:ext cx="347472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72384"/>
            <a:ext cx="347472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Teks mudah dipindai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28416"/>
            <a:ext cx="3566160" cy="3840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5728A"/>
                </a:solidFill>
                <a:latin typeface="Aptos"/>
              </a:rPr>
              <a:t>Posisi, lokasi, dan gaji tampil konsisten.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922776"/>
            <a:ext cx="347472" cy="347472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22776"/>
            <a:ext cx="347472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Aksi utama terlihat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69664"/>
            <a:ext cx="3566160" cy="3840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5728A"/>
                </a:solidFill>
                <a:latin typeface="Aptos"/>
              </a:rPr>
              <a:t>Tombol penting memakai warna biru.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4764024"/>
            <a:ext cx="347472" cy="347472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764024"/>
            <a:ext cx="347472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754880"/>
            <a:ext cx="347472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Status pakai teks + warna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010912"/>
            <a:ext cx="3566160" cy="3840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5728A"/>
                </a:solidFill>
                <a:latin typeface="Aptos"/>
              </a:rPr>
              <a:t>Informasi tetap jelas dan tidak bergantung pada warna.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1508760"/>
            <a:ext cx="5715000" cy="4526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1783080"/>
            <a:ext cx="2286000" cy="3200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200" b="1">
                <a:solidFill>
                  <a:srgbClr val="3767F5"/>
                </a:solidFill>
                <a:latin typeface="Aptos"/>
              </a:rPr>
              <a:t>PALET WARNA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331720"/>
            <a:ext cx="841248" cy="841248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0176" y="3273552"/>
            <a:ext cx="96012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72B4D"/>
                </a:solidFill>
                <a:latin typeface="Aptos"/>
              </a:rPr>
              <a:t>Navy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0176" y="3547872"/>
            <a:ext cx="96012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65728A"/>
                </a:solidFill>
                <a:latin typeface="Aptos"/>
              </a:rPr>
              <a:t>#172B4D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59168" y="2331720"/>
            <a:ext cx="841248" cy="841248"/>
          </a:xfrm>
          <a:prstGeom prst="roundRect">
            <a:avLst>
              <a:gd name="adj" fmla="val 16000"/>
            </a:avLst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04304" y="3273552"/>
            <a:ext cx="96012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72B4D"/>
                </a:solidFill>
                <a:latin typeface="Aptos"/>
              </a:rPr>
              <a:t>Biru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3547872"/>
            <a:ext cx="96012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65728A"/>
                </a:solidFill>
                <a:latin typeface="Aptos"/>
              </a:rPr>
              <a:t>#3767F5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3296" y="2331720"/>
            <a:ext cx="841248" cy="841248"/>
          </a:xfrm>
          <a:prstGeom prst="roundRect">
            <a:avLst>
              <a:gd name="adj" fmla="val 16000"/>
            </a:avLst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28431" y="3273552"/>
            <a:ext cx="96012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72B4D"/>
                </a:solidFill>
                <a:latin typeface="Aptos"/>
              </a:rPr>
              <a:t>Lime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3547872"/>
            <a:ext cx="96012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65728A"/>
                </a:solidFill>
                <a:latin typeface="Aptos"/>
              </a:rPr>
              <a:t>#C7F464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07424" y="2331720"/>
            <a:ext cx="841248" cy="841248"/>
          </a:xfrm>
          <a:prstGeom prst="roundRect">
            <a:avLst>
              <a:gd name="adj" fmla="val 16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3273552"/>
            <a:ext cx="96012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72B4D"/>
                </a:solidFill>
                <a:latin typeface="Aptos"/>
              </a:rPr>
              <a:t>Putih abu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547872"/>
            <a:ext cx="96012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65728A"/>
                </a:solidFill>
                <a:latin typeface="Aptos"/>
              </a:rPr>
              <a:t>#F5F7FB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31552" y="2331720"/>
            <a:ext cx="841248" cy="841248"/>
          </a:xfrm>
          <a:prstGeom prst="roundRect">
            <a:avLst>
              <a:gd name="adj" fmla="val 16000"/>
            </a:avLst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76688" y="3273552"/>
            <a:ext cx="96012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72B4D"/>
                </a:solidFill>
                <a:latin typeface="Aptos"/>
              </a:rPr>
              <a:t>Coral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6688" y="3547872"/>
            <a:ext cx="96012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65728A"/>
                </a:solidFill>
                <a:latin typeface="Aptos"/>
              </a:rPr>
              <a:t>#FF8A65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160520"/>
            <a:ext cx="4389120" cy="29260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Tipografi: Aptos / sans-serif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526280"/>
            <a:ext cx="4663440" cy="6400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200" b="0">
                <a:solidFill>
                  <a:srgbClr val="65728A"/>
                </a:solidFill>
                <a:latin typeface="Aptos"/>
              </a:rPr>
              <a:t>Komponen: sudut membulat, jarak lega, label konsisten, dan kontras tinggi.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60" y="5349240"/>
            <a:ext cx="1554480" cy="292608"/>
          </a:xfrm>
          <a:prstGeom prst="roundRect">
            <a:avLst>
              <a:gd name="adj" fmla="val 16000"/>
            </a:avLst>
          </a:prstGeom>
          <a:solidFill>
            <a:srgbClr val="F0F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17336" y="5358383"/>
            <a:ext cx="148132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MUDAH DIBACA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2600" b="1">
                <a:solidFill>
                  <a:srgbClr val="172B4D"/>
                </a:solidFill>
                <a:latin typeface="Aptos"/>
              </a:rPr>
              <a:t>01–02  |  Splash &amp; Masuk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5728A"/>
                </a:solidFill>
                <a:latin typeface="Aptos"/>
              </a:rPr>
              <a:t>Pengguna langsung mengenali merek dan bisa masuk tanpa langkah yang membingungkan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767F5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417320"/>
            <a:ext cx="2331720" cy="4526280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61288" y="1536192"/>
            <a:ext cx="2112263" cy="4288536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90979" y="1527048"/>
            <a:ext cx="652881" cy="82296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64792" y="2331720"/>
            <a:ext cx="868680" cy="868680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2331720"/>
            <a:ext cx="868680" cy="8686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2800" b="1">
                <a:solidFill>
                  <a:srgbClr val="172B4D"/>
                </a:solidFill>
                <a:latin typeface="Aptos"/>
              </a:rPr>
              <a:t>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83280"/>
            <a:ext cx="1783080" cy="3840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KERJAIN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794760"/>
            <a:ext cx="1874519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DCE5F5"/>
                </a:solidFill>
                <a:latin typeface="Aptos"/>
              </a:rPr>
              <a:t>Cari kerja. Lebih mudah.</a:t>
            </a:r>
          </a:p>
        </p:txBody>
      </p:sp>
      <p:sp>
        <p:nvSpPr>
          <p:cNvPr id="13" name="Oval 12"/>
          <p:cNvSpPr/>
          <p:nvPr/>
        </p:nvSpPr>
        <p:spPr>
          <a:xfrm>
            <a:off x="1828800" y="5074920"/>
            <a:ext cx="109728" cy="109728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39112" y="5074920"/>
            <a:ext cx="109728" cy="109728"/>
          </a:xfrm>
          <a:prstGeom prst="ellipse">
            <a:avLst/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49424" y="5074920"/>
            <a:ext cx="109728" cy="109728"/>
          </a:xfrm>
          <a:prstGeom prst="ellipse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6053328"/>
            <a:ext cx="201168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3767F5"/>
                </a:solidFill>
                <a:latin typeface="Aptos"/>
              </a:rPr>
              <a:t>SPLASH SCREEN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1417320"/>
            <a:ext cx="2331720" cy="4526280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78808" y="1536192"/>
            <a:ext cx="2112263" cy="42885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08499" y="1527048"/>
            <a:ext cx="652881" cy="82296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1709928"/>
            <a:ext cx="1929384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Selamat datang!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2048256"/>
            <a:ext cx="1929384" cy="29260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0">
                <a:solidFill>
                  <a:srgbClr val="65728A"/>
                </a:solidFill>
                <a:latin typeface="Aptos"/>
              </a:rPr>
              <a:t>Masuk untuk mencari pekerjaan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450592"/>
            <a:ext cx="1554480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65728A"/>
                </a:solidFill>
                <a:latin typeface="Aptos"/>
              </a:rPr>
              <a:t>Email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9392" y="2688336"/>
            <a:ext cx="1901952" cy="438912"/>
          </a:xfrm>
          <a:prstGeom prst="roundRect">
            <a:avLst>
              <a:gd name="adj" fmla="val 16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2734056"/>
            <a:ext cx="1645920" cy="29260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0">
                <a:solidFill>
                  <a:srgbClr val="65728A"/>
                </a:solidFill>
                <a:latin typeface="Aptos"/>
              </a:rPr>
              <a:t>nama@email.com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246120"/>
            <a:ext cx="1554480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65728A"/>
                </a:solidFill>
                <a:latin typeface="Aptos"/>
              </a:rPr>
              <a:t>Kata sandi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3483864"/>
            <a:ext cx="1901952" cy="438912"/>
          </a:xfrm>
          <a:prstGeom prst="roundRect">
            <a:avLst>
              <a:gd name="adj" fmla="val 16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3529584"/>
            <a:ext cx="1645920" cy="29260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0">
                <a:solidFill>
                  <a:srgbClr val="65728A"/>
                </a:solidFill>
                <a:latin typeface="Aptos"/>
              </a:rPr>
              <a:t>••••••••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977639"/>
            <a:ext cx="1143000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700" b="1">
                <a:solidFill>
                  <a:srgbClr val="3767F5"/>
                </a:solidFill>
                <a:latin typeface="Aptos"/>
              </a:rPr>
              <a:t>Lupa sandi?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4343400"/>
            <a:ext cx="1901952" cy="457200"/>
          </a:xfrm>
          <a:prstGeom prst="roundRect">
            <a:avLst>
              <a:gd name="adj" fmla="val 16000"/>
            </a:avLst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9392" y="4361688"/>
            <a:ext cx="1901952" cy="40233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Masuk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882896"/>
            <a:ext cx="365760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65728A"/>
                </a:solidFill>
                <a:latin typeface="Aptos"/>
              </a:rPr>
              <a:t>atau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79392" y="5120640"/>
            <a:ext cx="1901952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9392" y="5129784"/>
            <a:ext cx="1901952" cy="3657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172B4D"/>
                </a:solidFill>
                <a:latin typeface="Aptos"/>
              </a:rPr>
              <a:t>Lanjut dengan Google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5559552"/>
            <a:ext cx="1938528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700" b="1">
                <a:solidFill>
                  <a:srgbClr val="3767F5"/>
                </a:solidFill>
                <a:latin typeface="Aptos"/>
              </a:rPr>
              <a:t>Belum punya akun? Daftar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40" y="1508760"/>
            <a:ext cx="4297680" cy="434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1810512"/>
            <a:ext cx="2103120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ptos"/>
              </a:rPr>
              <a:t>Fungsi layar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286000"/>
            <a:ext cx="3611880" cy="19202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0">
                <a:solidFill>
                  <a:srgbClr val="65728A"/>
                </a:solidFill>
                <a:latin typeface="Aptos"/>
              </a:rPr>
              <a:t>• Splash tampil singkat sebelum masuk.
• Form login hanya meminta email dan kata sandi.
• Tombol Masuk menjadi aksi utama.
• Opsi Google sebagai alternatif.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69480" y="4892040"/>
            <a:ext cx="2057400" cy="292608"/>
          </a:xfrm>
          <a:prstGeom prst="roundRect">
            <a:avLst>
              <a:gd name="adj" fmla="val 16000"/>
            </a:avLst>
          </a:prstGeom>
          <a:solidFill>
            <a:srgbClr val="F0F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06056" y="4901183"/>
            <a:ext cx="198424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TARGET: 2–3 LANGKAH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2600" b="1">
                <a:solidFill>
                  <a:srgbClr val="172B4D"/>
                </a:solidFill>
                <a:latin typeface="Aptos"/>
              </a:rPr>
              <a:t>03  |  Beranda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5728A"/>
                </a:solidFill>
                <a:latin typeface="Aptos"/>
              </a:rPr>
              <a:t>Pencarian, kategori, dan rekomendasi berada dalam urutan yang alami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767F5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34440"/>
            <a:ext cx="2834640" cy="5166360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4128" y="1353312"/>
            <a:ext cx="2615184" cy="49286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34870" y="1344168"/>
            <a:ext cx="793699" cy="82296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527048"/>
            <a:ext cx="2432304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Hai, Rina 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865376"/>
            <a:ext cx="2432304" cy="29260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0">
                <a:solidFill>
                  <a:srgbClr val="65728A"/>
                </a:solidFill>
                <a:latin typeface="Aptos"/>
              </a:rPr>
              <a:t>Siap menemukan peluang baru?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61288" y="2221992"/>
            <a:ext cx="2331720" cy="438912"/>
          </a:xfrm>
          <a:prstGeom prst="roundRect">
            <a:avLst>
              <a:gd name="adj" fmla="val 16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267712"/>
            <a:ext cx="2103120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0">
                <a:solidFill>
                  <a:srgbClr val="65728A"/>
                </a:solidFill>
                <a:latin typeface="Aptos"/>
              </a:rPr>
              <a:t>⌕  Posisi atau perusahaan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16352"/>
            <a:ext cx="210312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72B4D"/>
                </a:solidFill>
                <a:latin typeface="Aptos"/>
              </a:rPr>
              <a:t>Kategori populer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" y="3127248"/>
            <a:ext cx="777240" cy="292608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3136391"/>
            <a:ext cx="70408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767F5"/>
                </a:solidFill>
                <a:latin typeface="Aptos"/>
              </a:rPr>
              <a:t>Teknologi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29968" y="3127248"/>
            <a:ext cx="594360" cy="292608"/>
          </a:xfrm>
          <a:prstGeom prst="roundRect">
            <a:avLst>
              <a:gd name="adj" fmla="val 16000"/>
            </a:avLst>
          </a:prstGeom>
          <a:solidFill>
            <a:srgbClr val="F0F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66544" y="3136391"/>
            <a:ext cx="52120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Admin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3127248"/>
            <a:ext cx="640080" cy="292608"/>
          </a:xfrm>
          <a:prstGeom prst="roundRect">
            <a:avLst>
              <a:gd name="adj" fmla="val 16000"/>
            </a:avLst>
          </a:prstGeom>
          <a:solidFill>
            <a:srgbClr val="FD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34056" y="3136391"/>
            <a:ext cx="56692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8A65"/>
                </a:solidFill>
                <a:latin typeface="Aptos"/>
              </a:rPr>
              <a:t>Desain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11880"/>
            <a:ext cx="214884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72B4D"/>
                </a:solidFill>
                <a:latin typeface="Aptos"/>
              </a:rPr>
              <a:t>Rekomendasi untukmu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931920"/>
            <a:ext cx="2377440" cy="8961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61872" y="4078224"/>
            <a:ext cx="329184" cy="329184"/>
          </a:xfrm>
          <a:prstGeom prst="ellipse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61872" y="4078224"/>
            <a:ext cx="329184" cy="3291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3767F5"/>
                </a:solidFill>
                <a:latin typeface="Aptos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4041648"/>
            <a:ext cx="160020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172B4D"/>
                </a:solidFill>
                <a:latin typeface="Aptos"/>
              </a:rPr>
              <a:t>UI/UX Designer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4279392"/>
            <a:ext cx="1645920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600" b="0">
                <a:solidFill>
                  <a:srgbClr val="65728A"/>
                </a:solidFill>
                <a:latin typeface="Aptos"/>
              </a:rPr>
              <a:t>Kreasi Digital · Medan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4489704"/>
            <a:ext cx="914400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700" b="1">
                <a:solidFill>
                  <a:srgbClr val="3767F5"/>
                </a:solidFill>
                <a:latin typeface="Aptos"/>
              </a:rPr>
              <a:t>Rp7–10 jt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15184" y="4535424"/>
            <a:ext cx="658368" cy="292608"/>
          </a:xfrm>
          <a:prstGeom prst="roundRect">
            <a:avLst>
              <a:gd name="adj" fmla="val 16000"/>
            </a:avLst>
          </a:prstGeom>
          <a:solidFill>
            <a:srgbClr val="F0F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4544568"/>
            <a:ext cx="585216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Full-time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4965192"/>
            <a:ext cx="2377440" cy="8961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61872" y="5111496"/>
            <a:ext cx="329184" cy="329184"/>
          </a:xfrm>
          <a:prstGeom prst="ellipse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61872" y="5111496"/>
            <a:ext cx="329184" cy="3291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3767F5"/>
                </a:solidFill>
                <a:latin typeface="Aptos"/>
              </a:rPr>
              <a:t>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4208" y="5074920"/>
            <a:ext cx="160020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172B4D"/>
                </a:solidFill>
                <a:latin typeface="Aptos"/>
              </a:rPr>
              <a:t>Staf Administrasi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4208" y="5312664"/>
            <a:ext cx="1645920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600" b="0">
                <a:solidFill>
                  <a:srgbClr val="65728A"/>
                </a:solidFill>
                <a:latin typeface="Aptos"/>
              </a:rPr>
              <a:t>Maju Bersama · Medan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4208" y="5522976"/>
            <a:ext cx="914400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700" b="1">
                <a:solidFill>
                  <a:srgbClr val="3767F5"/>
                </a:solidFill>
                <a:latin typeface="Aptos"/>
              </a:rPr>
              <a:t>Rp4–5 jt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15184" y="5568696"/>
            <a:ext cx="658368" cy="292608"/>
          </a:xfrm>
          <a:prstGeom prst="roundRect">
            <a:avLst>
              <a:gd name="adj" fmla="val 16000"/>
            </a:avLst>
          </a:prstGeom>
          <a:solidFill>
            <a:srgbClr val="F0F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5577840"/>
            <a:ext cx="585216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Full-time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70432" y="5824728"/>
            <a:ext cx="2331720" cy="3931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43584" y="5833872"/>
            <a:ext cx="329184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3767F5"/>
                </a:solidFill>
                <a:latin typeface="Aptos"/>
              </a:rPr>
              <a:t>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1" y="6016752"/>
            <a:ext cx="384048" cy="1371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600" b="0">
                <a:solidFill>
                  <a:srgbClr val="3767F5"/>
                </a:solidFill>
                <a:latin typeface="Aptos"/>
              </a:rPr>
              <a:t>Home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6222" y="5833872"/>
            <a:ext cx="329184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65728A"/>
                </a:solidFill>
                <a:latin typeface="Aptos"/>
              </a:rPr>
              <a:t>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48789" y="6016752"/>
            <a:ext cx="384048" cy="1371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600" b="0">
                <a:solidFill>
                  <a:srgbClr val="65728A"/>
                </a:solidFill>
                <a:latin typeface="Aptos"/>
              </a:rPr>
              <a:t>Cari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08860" y="5833872"/>
            <a:ext cx="329184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65728A"/>
                </a:solidFill>
                <a:latin typeface="Aptos"/>
              </a:rPr>
              <a:t>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1428" y="6016752"/>
            <a:ext cx="384048" cy="1371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600" b="0">
                <a:solidFill>
                  <a:srgbClr val="65728A"/>
                </a:solidFill>
                <a:latin typeface="Aptos"/>
              </a:rPr>
              <a:t>Simpan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41498" y="5833872"/>
            <a:ext cx="329184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65728A"/>
                </a:solidFill>
                <a:latin typeface="Aptos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14066" y="6016752"/>
            <a:ext cx="384048" cy="1371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600" b="0">
                <a:solidFill>
                  <a:srgbClr val="65728A"/>
                </a:solidFill>
                <a:latin typeface="Aptos"/>
              </a:rPr>
              <a:t>Profil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97680" y="1508760"/>
            <a:ext cx="6995160" cy="4389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1828800"/>
            <a:ext cx="2926080" cy="3291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Yang diprioritaskan</a:t>
            </a:r>
          </a:p>
        </p:txBody>
      </p:sp>
      <p:sp>
        <p:nvSpPr>
          <p:cNvPr id="48" name="Oval 47"/>
          <p:cNvSpPr/>
          <p:nvPr/>
        </p:nvSpPr>
        <p:spPr>
          <a:xfrm>
            <a:off x="4681728" y="2331720"/>
            <a:ext cx="347472" cy="347472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81728" y="2331720"/>
            <a:ext cx="347472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2331720"/>
            <a:ext cx="5029200" cy="2468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Kolom cari di bagian atas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2606039"/>
            <a:ext cx="5029200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5728A"/>
                </a:solidFill>
                <a:latin typeface="Aptos"/>
              </a:rPr>
              <a:t>Pencarian cepat berdasarkan posisi atau nama perusahaan.</a:t>
            </a:r>
          </a:p>
        </p:txBody>
      </p:sp>
      <p:sp>
        <p:nvSpPr>
          <p:cNvPr id="52" name="Oval 51"/>
          <p:cNvSpPr/>
          <p:nvPr/>
        </p:nvSpPr>
        <p:spPr>
          <a:xfrm>
            <a:off x="4681728" y="3108960"/>
            <a:ext cx="347472" cy="347472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81728" y="3108960"/>
            <a:ext cx="347472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3108960"/>
            <a:ext cx="5029200" cy="2468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Kategori berbentuk chip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0" y="3383279"/>
            <a:ext cx="5029200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5728A"/>
                </a:solidFill>
                <a:latin typeface="Aptos"/>
              </a:rPr>
              <a:t>Pilihan singkat, dapat dipindai dengan cepat.</a:t>
            </a:r>
          </a:p>
        </p:txBody>
      </p:sp>
      <p:sp>
        <p:nvSpPr>
          <p:cNvPr id="56" name="Oval 55"/>
          <p:cNvSpPr/>
          <p:nvPr/>
        </p:nvSpPr>
        <p:spPr>
          <a:xfrm>
            <a:off x="4681728" y="3886200"/>
            <a:ext cx="347472" cy="347472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81728" y="3886200"/>
            <a:ext cx="347472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12080" y="3886200"/>
            <a:ext cx="5029200" cy="2468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Kartu lowongan konsisten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4160520"/>
            <a:ext cx="5029200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5728A"/>
                </a:solidFill>
                <a:latin typeface="Aptos"/>
              </a:rPr>
              <a:t>Jabatan, perusahaan, lokasi, dan gaji terlihat sekaligus.</a:t>
            </a:r>
          </a:p>
        </p:txBody>
      </p:sp>
      <p:sp>
        <p:nvSpPr>
          <p:cNvPr id="60" name="Oval 59"/>
          <p:cNvSpPr/>
          <p:nvPr/>
        </p:nvSpPr>
        <p:spPr>
          <a:xfrm>
            <a:off x="4681728" y="4663440"/>
            <a:ext cx="347472" cy="347472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81728" y="4663440"/>
            <a:ext cx="347472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12080" y="4663440"/>
            <a:ext cx="5029200" cy="2468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Navigasi bawah tetap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2080" y="4937759"/>
            <a:ext cx="5029200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5728A"/>
                </a:solidFill>
                <a:latin typeface="Aptos"/>
              </a:rPr>
              <a:t>Beranda, Cari, Simpan, dan Profil selalu mudah dijangkau.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2600" b="1">
                <a:solidFill>
                  <a:srgbClr val="172B4D"/>
                </a:solidFill>
                <a:latin typeface="Aptos"/>
              </a:rPr>
              <a:t>04  |  Cari &amp;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5728A"/>
                </a:solidFill>
                <a:latin typeface="Aptos"/>
              </a:rPr>
              <a:t>Filter ringkas membantu pengguna menyaring lowongan tanpa banyak mengetik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767F5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234440"/>
            <a:ext cx="2834640" cy="5166360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9848" y="1353312"/>
            <a:ext cx="2615184" cy="49286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80590" y="1344168"/>
            <a:ext cx="793699" cy="82296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527048"/>
            <a:ext cx="2432304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Cari lowongan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865376"/>
            <a:ext cx="2432304" cy="29260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0">
                <a:solidFill>
                  <a:srgbClr val="65728A"/>
                </a:solidFill>
                <a:latin typeface="Aptos"/>
              </a:rPr>
              <a:t>Atur hasil sesuai kebutuhanmu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7008" y="2212848"/>
            <a:ext cx="2331720" cy="411480"/>
          </a:xfrm>
          <a:prstGeom prst="roundRect">
            <a:avLst>
              <a:gd name="adj" fmla="val 16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258568"/>
            <a:ext cx="2057400" cy="29260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0">
                <a:solidFill>
                  <a:srgbClr val="172B4D"/>
                </a:solidFill>
                <a:latin typeface="Aptos"/>
              </a:rPr>
              <a:t>UI/UX Designer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61488"/>
            <a:ext cx="1828800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1">
                <a:solidFill>
                  <a:srgbClr val="172B4D"/>
                </a:solidFill>
                <a:latin typeface="Aptos"/>
              </a:rPr>
              <a:t>Lokasi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" y="3026664"/>
            <a:ext cx="685800" cy="292608"/>
          </a:xfrm>
          <a:prstGeom prst="roundRect">
            <a:avLst>
              <a:gd name="adj" fmla="val 16000"/>
            </a:avLst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3035808"/>
            <a:ext cx="61264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Medan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75104" y="3026664"/>
            <a:ext cx="777240" cy="292608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3035808"/>
            <a:ext cx="70408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767F5"/>
                </a:solidFill>
                <a:latin typeface="Aptos"/>
              </a:rPr>
              <a:t>Remote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3026664"/>
            <a:ext cx="621792" cy="292608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216" y="3035808"/>
            <a:ext cx="54864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767F5"/>
                </a:solidFill>
                <a:latin typeface="Aptos"/>
              </a:rPr>
              <a:t>Jakarta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520440"/>
            <a:ext cx="1828800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1">
                <a:solidFill>
                  <a:srgbClr val="172B4D"/>
                </a:solidFill>
                <a:latin typeface="Aptos"/>
              </a:rPr>
              <a:t>Tipe kerja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8" y="3785615"/>
            <a:ext cx="822960" cy="292608"/>
          </a:xfrm>
          <a:prstGeom prst="roundRect">
            <a:avLst>
              <a:gd name="adj" fmla="val 16000"/>
            </a:avLst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43584" y="3794759"/>
            <a:ext cx="74980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Full-time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3785615"/>
            <a:ext cx="658368" cy="292608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39696" y="3794759"/>
            <a:ext cx="585216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767F5"/>
                </a:solidFill>
                <a:latin typeface="Aptos"/>
              </a:rPr>
              <a:t>Magang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07008" y="4151376"/>
            <a:ext cx="822960" cy="292608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3584" y="4160520"/>
            <a:ext cx="74980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767F5"/>
                </a:solidFill>
                <a:latin typeface="Aptos"/>
              </a:rPr>
              <a:t>Freelance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617720"/>
            <a:ext cx="1828800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1">
                <a:solidFill>
                  <a:srgbClr val="172B4D"/>
                </a:solidFill>
                <a:latin typeface="Aptos"/>
              </a:rPr>
              <a:t>Gaji minimum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892040"/>
            <a:ext cx="155448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1">
                <a:solidFill>
                  <a:srgbClr val="3767F5"/>
                </a:solidFill>
                <a:latin typeface="Aptos"/>
              </a:rPr>
              <a:t>Rp 5.000.000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5193792"/>
            <a:ext cx="2212848" cy="54864"/>
          </a:xfrm>
          <a:prstGeom prst="roundRect">
            <a:avLst>
              <a:gd name="adj" fmla="val 16000"/>
            </a:avLst>
          </a:prstGeom>
          <a:solidFill>
            <a:srgbClr val="DD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920240" y="5166360"/>
            <a:ext cx="685800" cy="109728"/>
          </a:xfrm>
          <a:prstGeom prst="roundRect">
            <a:avLst>
              <a:gd name="adj" fmla="val 16000"/>
            </a:avLst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74519" y="5102352"/>
            <a:ext cx="228600" cy="228600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207008" y="5559552"/>
            <a:ext cx="2331720" cy="420624"/>
          </a:xfrm>
          <a:prstGeom prst="roundRect">
            <a:avLst>
              <a:gd name="adj" fmla="val 16000"/>
            </a:avLst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7008" y="5568696"/>
            <a:ext cx="2331720" cy="3840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Tampilkan lowongan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1508760"/>
            <a:ext cx="6995160" cy="4389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1828800"/>
            <a:ext cx="4297680" cy="3291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Filter yang tidak berlebihan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2395728"/>
            <a:ext cx="5852160" cy="16459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0">
                <a:solidFill>
                  <a:srgbClr val="65728A"/>
                </a:solidFill>
                <a:latin typeface="Aptos"/>
              </a:rPr>
              <a:t>• Lokasi: pilih kota atau opsi kerja jarak jauh.
• Tipe kerja: full-time, magang, atau freelance.
• Gaji: geser batas minimum yang diinginkan.
• Tombol hasil memakai label yang jelas.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4343400"/>
            <a:ext cx="2103120" cy="292608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0016" y="4352544"/>
            <a:ext cx="2029967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767F5"/>
                </a:solidFill>
                <a:latin typeface="Aptos"/>
              </a:rPr>
              <a:t>PILIHAN AKTIF = BIRU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892040"/>
            <a:ext cx="5669280" cy="6400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72B4D"/>
                </a:solidFill>
                <a:latin typeface="Aptos"/>
              </a:rPr>
              <a:t>Tujuan: mempersingkat waktu pencarian dan mengurangi kebingungan.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2600" b="1">
                <a:solidFill>
                  <a:srgbClr val="172B4D"/>
                </a:solidFill>
                <a:latin typeface="Aptos"/>
              </a:rPr>
              <a:t>05  |  Detail lowongan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5728A"/>
                </a:solidFill>
                <a:latin typeface="Aptos"/>
              </a:rPr>
              <a:t>Informasi penting disusun sebelum deskripsi panjang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767F5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234440"/>
            <a:ext cx="2834640" cy="5166360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9848" y="1353312"/>
            <a:ext cx="2615184" cy="49286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80590" y="1344168"/>
            <a:ext cx="793699" cy="82296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527048"/>
            <a:ext cx="2432304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Detail pekerjaan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865376"/>
            <a:ext cx="2432304" cy="29260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0">
                <a:solidFill>
                  <a:srgbClr val="65728A"/>
                </a:solidFill>
                <a:latin typeface="Aptos"/>
              </a:rPr>
              <a:t>← Kembali ke hasil pencarian</a:t>
            </a:r>
          </a:p>
        </p:txBody>
      </p:sp>
      <p:sp>
        <p:nvSpPr>
          <p:cNvPr id="11" name="Oval 10"/>
          <p:cNvSpPr/>
          <p:nvPr/>
        </p:nvSpPr>
        <p:spPr>
          <a:xfrm>
            <a:off x="1225296" y="2148840"/>
            <a:ext cx="502920" cy="50292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2148840"/>
            <a:ext cx="502920" cy="5029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700" b="1">
                <a:solidFill>
                  <a:srgbClr val="3767F5"/>
                </a:solidFill>
                <a:latin typeface="Aptos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39696"/>
            <a:ext cx="160020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72B4D"/>
                </a:solidFill>
                <a:latin typeface="Aptos"/>
              </a:rPr>
              <a:t>UI/UX 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23160"/>
            <a:ext cx="1600200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700" b="0">
                <a:solidFill>
                  <a:srgbClr val="65728A"/>
                </a:solidFill>
                <a:latin typeface="Aptos"/>
              </a:rPr>
              <a:t>Kreasi Digital · Medan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7008" y="2816352"/>
            <a:ext cx="1097280" cy="566928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2871216"/>
            <a:ext cx="987552" cy="16459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600" b="1">
                <a:solidFill>
                  <a:srgbClr val="3767F5"/>
                </a:solidFill>
                <a:latin typeface="Aptos"/>
              </a:rPr>
              <a:t>GAJI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072384"/>
            <a:ext cx="987552" cy="21031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172B4D"/>
                </a:solidFill>
                <a:latin typeface="Aptos"/>
              </a:rPr>
              <a:t>Rp7–10 jt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2816352"/>
            <a:ext cx="1097280" cy="566928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78024" y="2871216"/>
            <a:ext cx="987552" cy="16459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600" b="1">
                <a:solidFill>
                  <a:srgbClr val="3767F5"/>
                </a:solidFill>
                <a:latin typeface="Aptos"/>
              </a:rPr>
              <a:t>TIPE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8024" y="3072384"/>
            <a:ext cx="987552" cy="21031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172B4D"/>
                </a:solidFill>
                <a:latin typeface="Aptos"/>
              </a:rPr>
              <a:t>Full-time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8" y="3520440"/>
            <a:ext cx="1097280" cy="566928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3575304"/>
            <a:ext cx="987552" cy="16459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600" b="1">
                <a:solidFill>
                  <a:srgbClr val="3767F5"/>
                </a:solidFill>
                <a:latin typeface="Aptos"/>
              </a:rPr>
              <a:t>LOKASI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3776472"/>
            <a:ext cx="987552" cy="21031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172B4D"/>
                </a:solidFill>
                <a:latin typeface="Aptos"/>
              </a:rPr>
              <a:t>Medan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3520440"/>
            <a:ext cx="1097280" cy="566928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78024" y="3575304"/>
            <a:ext cx="987552" cy="16459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600" b="1">
                <a:solidFill>
                  <a:srgbClr val="3767F5"/>
                </a:solidFill>
                <a:latin typeface="Aptos"/>
              </a:rPr>
              <a:t>PENGALAMAN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78024" y="3776472"/>
            <a:ext cx="987552" cy="21031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172B4D"/>
                </a:solidFill>
                <a:latin typeface="Aptos"/>
              </a:rPr>
              <a:t>1–2 thn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251960"/>
            <a:ext cx="210312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1">
                <a:solidFill>
                  <a:srgbClr val="172B4D"/>
                </a:solidFill>
                <a:latin typeface="Aptos"/>
              </a:rPr>
              <a:t>Ringkasan pekerjaan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35424"/>
            <a:ext cx="2103120" cy="5029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700" b="0">
                <a:solidFill>
                  <a:srgbClr val="65728A"/>
                </a:solidFill>
                <a:latin typeface="Aptos"/>
              </a:rPr>
              <a:t>Merancang antarmuka aplikasi dan membuat prototype di Figma.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074920"/>
            <a:ext cx="2103120" cy="21031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1">
                <a:solidFill>
                  <a:srgbClr val="172B4D"/>
                </a:solidFill>
                <a:latin typeface="Aptos"/>
              </a:rPr>
              <a:t>Persyaratan utama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303520"/>
            <a:ext cx="2103120" cy="4114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700" b="0">
                <a:solidFill>
                  <a:srgbClr val="65728A"/>
                </a:solidFill>
                <a:latin typeface="Aptos"/>
              </a:rPr>
              <a:t>• Portofolio desain
• Mampu bekerja dalam tim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07008" y="5806440"/>
            <a:ext cx="2331720" cy="384048"/>
          </a:xfrm>
          <a:prstGeom prst="roundRect">
            <a:avLst>
              <a:gd name="adj" fmla="val 16000"/>
            </a:avLst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7008" y="5815584"/>
            <a:ext cx="2331720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Lamar sekarang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1508760"/>
            <a:ext cx="6995160" cy="4389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1828800"/>
            <a:ext cx="2926080" cy="3291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Urutan informasi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2331720"/>
            <a:ext cx="475488" cy="292608"/>
          </a:xfrm>
          <a:prstGeom prst="roundRect">
            <a:avLst>
              <a:gd name="adj" fmla="val 16000"/>
            </a:avLst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0016" y="2340863"/>
            <a:ext cx="402336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1808" y="2331720"/>
            <a:ext cx="155448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72B4D"/>
                </a:solidFill>
                <a:latin typeface="Aptos"/>
              </a:rPr>
              <a:t>Ringkasan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2331720"/>
            <a:ext cx="3474720" cy="2743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5728A"/>
                </a:solidFill>
                <a:latin typeface="Aptos"/>
              </a:rPr>
              <a:t>Jabatan, perusahaan, dan lokasi.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63440" y="3044952"/>
            <a:ext cx="475488" cy="292608"/>
          </a:xfrm>
          <a:prstGeom prst="roundRect">
            <a:avLst>
              <a:gd name="adj" fmla="val 16000"/>
            </a:avLst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0016" y="3054096"/>
            <a:ext cx="402336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1808" y="3044952"/>
            <a:ext cx="155448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72B4D"/>
                </a:solidFill>
                <a:latin typeface="Aptos"/>
              </a:rPr>
              <a:t>Fakta penting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3044952"/>
            <a:ext cx="3474720" cy="2743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5728A"/>
                </a:solidFill>
                <a:latin typeface="Aptos"/>
              </a:rPr>
              <a:t>Gaji, tipe kerja, dan pengalaman.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63440" y="3758183"/>
            <a:ext cx="475488" cy="292608"/>
          </a:xfrm>
          <a:prstGeom prst="roundRect">
            <a:avLst>
              <a:gd name="adj" fmla="val 16000"/>
            </a:avLst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0016" y="3767327"/>
            <a:ext cx="402336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8" y="3758183"/>
            <a:ext cx="155448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72B4D"/>
                </a:solidFill>
                <a:latin typeface="Aptos"/>
              </a:rPr>
              <a:t>Deskripsi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3758183"/>
            <a:ext cx="3474720" cy="2743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5728A"/>
                </a:solidFill>
                <a:latin typeface="Aptos"/>
              </a:rPr>
              <a:t>Tugas serta persyaratan utama.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63440" y="4471416"/>
            <a:ext cx="475488" cy="292608"/>
          </a:xfrm>
          <a:prstGeom prst="roundRect">
            <a:avLst>
              <a:gd name="adj" fmla="val 16000"/>
            </a:avLst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0016" y="4480559"/>
            <a:ext cx="402336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21808" y="4471416"/>
            <a:ext cx="155448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72B4D"/>
                </a:solidFill>
                <a:latin typeface="Aptos"/>
              </a:rPr>
              <a:t>Aksi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4471416"/>
            <a:ext cx="3474720" cy="2743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5728A"/>
                </a:solidFill>
                <a:latin typeface="Aptos"/>
              </a:rPr>
              <a:t>Tombol Lamar sekarang mudah ditemukan.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2600" b="1">
                <a:solidFill>
                  <a:srgbClr val="172B4D"/>
                </a:solidFill>
                <a:latin typeface="Aptos"/>
              </a:rPr>
              <a:t>06  |  Formulir lamaran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5728A"/>
                </a:solidFill>
                <a:latin typeface="Aptos"/>
              </a:rPr>
              <a:t>Proses melamar dibuat pendek dan menunjukkan progres pengguna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767F5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234440"/>
            <a:ext cx="2834640" cy="5166360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9848" y="1353312"/>
            <a:ext cx="2615184" cy="49286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80590" y="1344168"/>
            <a:ext cx="793699" cy="82296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527048"/>
            <a:ext cx="2432304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Lamar pekerjaan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865376"/>
            <a:ext cx="2432304" cy="29260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0">
                <a:solidFill>
                  <a:srgbClr val="65728A"/>
                </a:solidFill>
                <a:latin typeface="Aptos"/>
              </a:rPr>
              <a:t>Langkah 2 dari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25296" y="2084831"/>
            <a:ext cx="2240280" cy="64008"/>
          </a:xfrm>
          <a:prstGeom prst="roundRect">
            <a:avLst>
              <a:gd name="adj" fmla="val 16000"/>
            </a:avLst>
          </a:prstGeom>
          <a:solidFill>
            <a:srgbClr val="DD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25296" y="2084831"/>
            <a:ext cx="1481328" cy="64008"/>
          </a:xfrm>
          <a:prstGeom prst="roundRect">
            <a:avLst>
              <a:gd name="adj" fmla="val 16000"/>
            </a:avLst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359152"/>
            <a:ext cx="201168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1">
                <a:solidFill>
                  <a:srgbClr val="172B4D"/>
                </a:solidFill>
                <a:latin typeface="Aptos"/>
              </a:rPr>
              <a:t>Unggah CV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" y="2670048"/>
            <a:ext cx="2331720" cy="960120"/>
          </a:xfrm>
          <a:prstGeom prst="roundRect">
            <a:avLst>
              <a:gd name="adj" fmla="val 16000"/>
            </a:avLst>
          </a:prstGeom>
          <a:solidFill>
            <a:srgbClr val="F0F9D9"/>
          </a:solidFill>
          <a:ln>
            <a:solidFill>
              <a:srgbClr val="C7F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2761488"/>
            <a:ext cx="640080" cy="3291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2300" b="1">
                <a:solidFill>
                  <a:srgbClr val="3767F5"/>
                </a:solidFill>
                <a:latin typeface="Aptos"/>
              </a:rPr>
              <a:t>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127248"/>
            <a:ext cx="2057400" cy="21031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Unggah CV kamu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55848"/>
            <a:ext cx="2103120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600" b="0">
                <a:solidFill>
                  <a:srgbClr val="65728A"/>
                </a:solidFill>
                <a:latin typeface="Aptos"/>
              </a:rPr>
              <a:t>PDF atau DOCX · Maks. 5 MB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" y="3794760"/>
            <a:ext cx="2331720" cy="4846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25880" y="3895344"/>
            <a:ext cx="256032" cy="256032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895344"/>
            <a:ext cx="256032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3840480"/>
            <a:ext cx="1463040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172B4D"/>
                </a:solidFill>
                <a:latin typeface="Aptos"/>
              </a:rPr>
              <a:t>CV_Rina.pdf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041648"/>
            <a:ext cx="1463040" cy="1554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600" b="0">
                <a:solidFill>
                  <a:srgbClr val="65728A"/>
                </a:solidFill>
                <a:latin typeface="Aptos"/>
              </a:rPr>
              <a:t>1,2 MB · Terunggah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498848"/>
            <a:ext cx="2011680" cy="21031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1">
                <a:solidFill>
                  <a:srgbClr val="172B4D"/>
                </a:solidFill>
                <a:latin typeface="Aptos"/>
              </a:rPr>
              <a:t>Pesan untuk perekrut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7008" y="4773168"/>
            <a:ext cx="2331720" cy="658368"/>
          </a:xfrm>
          <a:prstGeom prst="roundRect">
            <a:avLst>
              <a:gd name="adj" fmla="val 16000"/>
            </a:avLst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4828032"/>
            <a:ext cx="2057400" cy="5029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700" b="0">
                <a:solidFill>
                  <a:srgbClr val="65728A"/>
                </a:solidFill>
                <a:latin typeface="Aptos"/>
              </a:rPr>
              <a:t>Ceritakan singkat alasanmu...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7008" y="5623560"/>
            <a:ext cx="2331720" cy="420624"/>
          </a:xfrm>
          <a:prstGeom prst="roundRect">
            <a:avLst>
              <a:gd name="adj" fmla="val 16000"/>
            </a:avLst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5632704"/>
            <a:ext cx="2331720" cy="3840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Kirim lamaran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1508760"/>
            <a:ext cx="6995160" cy="4389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1828800"/>
            <a:ext cx="2926080" cy="3291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Prinsip formulir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395728"/>
            <a:ext cx="5760720" cy="19202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0">
                <a:solidFill>
                  <a:srgbClr val="65728A"/>
                </a:solidFill>
                <a:latin typeface="Aptos"/>
              </a:rPr>
              <a:t>1. Tampilkan progres langkah.
2. Jelaskan format dan batas ukuran berkas.
3. Beri konfirmasi saat CV berhasil diunggah.
4. Gunakan satu tombol utama untuk mengirim.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4709160"/>
            <a:ext cx="1737360" cy="292608"/>
          </a:xfrm>
          <a:prstGeom prst="roundRect">
            <a:avLst>
              <a:gd name="adj" fmla="val 16000"/>
            </a:avLst>
          </a:prstGeom>
          <a:solidFill>
            <a:srgbClr val="F0F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4718304"/>
            <a:ext cx="1664207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FORMULIR RINGKAS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686800" cy="47548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2600" b="1">
                <a:solidFill>
                  <a:srgbClr val="172B4D"/>
                </a:solidFill>
                <a:latin typeface="Aptos"/>
              </a:rPr>
              <a:t>07–08  |  Berhasil &amp; status lamaran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4747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5728A"/>
                </a:solidFill>
                <a:latin typeface="Aptos"/>
              </a:rPr>
              <a:t>Setelah mengirim, pengguna mendapat konfirmasi dan bisa melacak prosesnya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2743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r"/>
            <a:r>
              <a:rPr sz="1000" b="1">
                <a:solidFill>
                  <a:srgbClr val="3767F5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560320" cy="5166360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353312"/>
            <a:ext cx="2340863" cy="4928616"/>
          </a:xfrm>
          <a:prstGeom prst="roundRect">
            <a:avLst>
              <a:gd name="adj" fmla="val 16000"/>
            </a:avLst>
          </a:prstGeom>
          <a:solidFill>
            <a:srgbClr val="F0F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53235" y="1344168"/>
            <a:ext cx="716889" cy="82296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011680"/>
            <a:ext cx="1005840" cy="1005840"/>
          </a:xfrm>
          <a:prstGeom prst="ellipse">
            <a:avLst/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0116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2103120" cy="3657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172B4D"/>
                </a:solidFill>
                <a:latin typeface="Aptos"/>
              </a:rPr>
              <a:t>Lamaran terkirim!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39312"/>
            <a:ext cx="2011680" cy="4114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800" b="0">
                <a:solidFill>
                  <a:srgbClr val="65728A"/>
                </a:solidFill>
                <a:latin typeface="Aptos"/>
              </a:rPr>
              <a:t>Perekrut akan meninjau CV-mu.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206240"/>
            <a:ext cx="205740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15968"/>
            <a:ext cx="173736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900" b="1">
                <a:solidFill>
                  <a:srgbClr val="172B4D"/>
                </a:solidFill>
                <a:latin typeface="Aptos"/>
              </a:rPr>
              <a:t>UI/UX Designer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590288"/>
            <a:ext cx="1737360" cy="20116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700" b="0">
                <a:solidFill>
                  <a:srgbClr val="65728A"/>
                </a:solidFill>
                <a:latin typeface="Aptos"/>
              </a:rPr>
              <a:t>Kreasi Digital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5303520"/>
            <a:ext cx="2057400" cy="411480"/>
          </a:xfrm>
          <a:prstGeom prst="roundRect">
            <a:avLst>
              <a:gd name="adj" fmla="val 16000"/>
            </a:avLst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312664"/>
            <a:ext cx="2057400" cy="38404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Lihat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080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3767F5"/>
                </a:solidFill>
                <a:latin typeface="Aptos"/>
              </a:rPr>
              <a:t>KONFIRMASI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1234440"/>
            <a:ext cx="2560320" cy="5166360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13048" y="1353312"/>
            <a:ext cx="2340863" cy="49286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25035" y="1344168"/>
            <a:ext cx="716889" cy="82296"/>
          </a:xfrm>
          <a:prstGeom prst="roundRect">
            <a:avLst>
              <a:gd name="adj" fmla="val 16000"/>
            </a:avLst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04487" y="1527048"/>
            <a:ext cx="2157984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B4D"/>
                </a:solidFill>
                <a:latin typeface="Aptos"/>
              </a:rPr>
              <a:t>Lamaran saya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4487" y="1865376"/>
            <a:ext cx="2157984" cy="292608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0">
                <a:solidFill>
                  <a:srgbClr val="65728A"/>
                </a:solidFill>
                <a:latin typeface="Aptos"/>
              </a:rPr>
              <a:t>Semua aktivitas lamaranmu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50208" y="2194560"/>
            <a:ext cx="2057400" cy="9326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87368" y="2304288"/>
            <a:ext cx="178308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172B4D"/>
                </a:solidFill>
                <a:latin typeface="Aptos"/>
              </a:rPr>
              <a:t>UI/UX Designer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7368" y="2542032"/>
            <a:ext cx="1783080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700" b="0">
                <a:solidFill>
                  <a:srgbClr val="65728A"/>
                </a:solidFill>
                <a:latin typeface="Aptos"/>
              </a:rPr>
              <a:t>Kreasi Digital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87368" y="2798064"/>
            <a:ext cx="868680" cy="292608"/>
          </a:xfrm>
          <a:prstGeom prst="roundRect">
            <a:avLst>
              <a:gd name="adj" fmla="val 16000"/>
            </a:avLst>
          </a:prstGeom>
          <a:solidFill>
            <a:srgbClr val="FD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23944" y="2807208"/>
            <a:ext cx="79552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8A65"/>
                </a:solidFill>
                <a:latin typeface="Aptos"/>
              </a:rPr>
              <a:t>Wawancara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50208" y="3337560"/>
            <a:ext cx="2057400" cy="9326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87368" y="3447288"/>
            <a:ext cx="178308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172B4D"/>
                </a:solidFill>
                <a:latin typeface="Aptos"/>
              </a:rPr>
              <a:t>Staf Administrasi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7368" y="3685032"/>
            <a:ext cx="1783080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700" b="0">
                <a:solidFill>
                  <a:srgbClr val="65728A"/>
                </a:solidFill>
                <a:latin typeface="Aptos"/>
              </a:rPr>
              <a:t>Maju Bersama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87368" y="3941063"/>
            <a:ext cx="868680" cy="292608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23944" y="3950207"/>
            <a:ext cx="79552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3767F5"/>
                </a:solidFill>
                <a:latin typeface="Aptos"/>
              </a:rPr>
              <a:t>Ditinjau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50208" y="4480560"/>
            <a:ext cx="2057400" cy="9326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87368" y="4590288"/>
            <a:ext cx="178308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800" b="1">
                <a:solidFill>
                  <a:srgbClr val="172B4D"/>
                </a:solidFill>
                <a:latin typeface="Aptos"/>
              </a:rPr>
              <a:t>Content Creator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87368" y="4828032"/>
            <a:ext cx="1783080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700" b="0">
                <a:solidFill>
                  <a:srgbClr val="65728A"/>
                </a:solidFill>
                <a:latin typeface="Aptos"/>
              </a:rPr>
              <a:t>Sinar Media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87368" y="5084064"/>
            <a:ext cx="868680" cy="292608"/>
          </a:xfrm>
          <a:prstGeom prst="roundRect">
            <a:avLst>
              <a:gd name="adj" fmla="val 16000"/>
            </a:avLst>
          </a:prstGeom>
          <a:solidFill>
            <a:srgbClr val="F0F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23944" y="5093208"/>
            <a:ext cx="79552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Terkirim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50207" y="5806440"/>
            <a:ext cx="2103120" cy="3931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59" y="5815583"/>
            <a:ext cx="329184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65728A"/>
                </a:solidFill>
                <a:latin typeface="Aptos"/>
              </a:rPr>
              <a:t>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95927" y="5998464"/>
            <a:ext cx="384048" cy="1371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600" b="0">
                <a:solidFill>
                  <a:srgbClr val="65728A"/>
                </a:solidFill>
                <a:latin typeface="Aptos"/>
              </a:rPr>
              <a:t>Home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8848" y="5815583"/>
            <a:ext cx="329184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65728A"/>
                </a:solidFill>
                <a:latin typeface="Aptos"/>
              </a:rPr>
              <a:t>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1416" y="5998464"/>
            <a:ext cx="384048" cy="1371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600" b="0">
                <a:solidFill>
                  <a:srgbClr val="65728A"/>
                </a:solidFill>
                <a:latin typeface="Aptos"/>
              </a:rPr>
              <a:t>Cari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4336" y="5815583"/>
            <a:ext cx="329184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3767F5"/>
                </a:solidFill>
                <a:latin typeface="Aptos"/>
              </a:rPr>
              <a:t>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6903" y="5998464"/>
            <a:ext cx="384048" cy="1371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600" b="0">
                <a:solidFill>
                  <a:srgbClr val="3767F5"/>
                </a:solidFill>
                <a:latin typeface="Aptos"/>
              </a:rPr>
              <a:t>Simpan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9823" y="5815583"/>
            <a:ext cx="329184" cy="18288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65728A"/>
                </a:solidFill>
                <a:latin typeface="Aptos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22391" y="5998464"/>
            <a:ext cx="384048" cy="1371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600" b="0">
                <a:solidFill>
                  <a:srgbClr val="65728A"/>
                </a:solidFill>
                <a:latin typeface="Aptos"/>
              </a:rPr>
              <a:t>Profil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29400" y="1508760"/>
            <a:ext cx="4663440" cy="4389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67728" y="1828800"/>
            <a:ext cx="3383280" cy="3291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72B4D"/>
                </a:solidFill>
                <a:latin typeface="Aptos"/>
              </a:rPr>
              <a:t>Status mudah dikenali</a:t>
            </a:r>
          </a:p>
        </p:txBody>
      </p:sp>
      <p:sp>
        <p:nvSpPr>
          <p:cNvPr id="50" name="Oval 49"/>
          <p:cNvSpPr/>
          <p:nvPr/>
        </p:nvSpPr>
        <p:spPr>
          <a:xfrm>
            <a:off x="6995160" y="2423160"/>
            <a:ext cx="329184" cy="329184"/>
          </a:xfrm>
          <a:prstGeom prst="ellipse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60" y="2423160"/>
            <a:ext cx="329184" cy="3291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2414016"/>
            <a:ext cx="128016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72B4D"/>
                </a:solidFill>
                <a:latin typeface="Aptos"/>
              </a:rPr>
              <a:t>Terkirim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2414016"/>
            <a:ext cx="2057400" cy="3657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5728A"/>
                </a:solidFill>
                <a:latin typeface="Aptos"/>
              </a:rPr>
              <a:t>Lamaran berhasil dikirim</a:t>
            </a:r>
          </a:p>
        </p:txBody>
      </p:sp>
      <p:sp>
        <p:nvSpPr>
          <p:cNvPr id="54" name="Oval 53"/>
          <p:cNvSpPr/>
          <p:nvPr/>
        </p:nvSpPr>
        <p:spPr>
          <a:xfrm>
            <a:off x="6995160" y="3246120"/>
            <a:ext cx="329184" cy="329184"/>
          </a:xfrm>
          <a:prstGeom prst="ellipse">
            <a:avLst/>
          </a:prstGeom>
          <a:solidFill>
            <a:srgbClr val="376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95160" y="3246120"/>
            <a:ext cx="329184" cy="3291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3236976"/>
            <a:ext cx="128016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72B4D"/>
                </a:solidFill>
                <a:latin typeface="Aptos"/>
              </a:rPr>
              <a:t>Ditinjau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3236976"/>
            <a:ext cx="2057400" cy="3657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5728A"/>
                </a:solidFill>
                <a:latin typeface="Aptos"/>
              </a:rPr>
              <a:t>Perusahaan sedang memeriksa</a:t>
            </a:r>
          </a:p>
        </p:txBody>
      </p:sp>
      <p:sp>
        <p:nvSpPr>
          <p:cNvPr id="58" name="Oval 57"/>
          <p:cNvSpPr/>
          <p:nvPr/>
        </p:nvSpPr>
        <p:spPr>
          <a:xfrm>
            <a:off x="6995160" y="4069080"/>
            <a:ext cx="329184" cy="329184"/>
          </a:xfrm>
          <a:prstGeom prst="ellipse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95160" y="4069080"/>
            <a:ext cx="329184" cy="329184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4059936"/>
            <a:ext cx="1280160" cy="2286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72B4D"/>
                </a:solidFill>
                <a:latin typeface="Aptos"/>
              </a:rPr>
              <a:t>Wawancara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4059936"/>
            <a:ext cx="2057400" cy="36576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5728A"/>
                </a:solidFill>
                <a:latin typeface="Aptos"/>
              </a:rPr>
              <a:t>Ada tahapan lanjutan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60" y="5120640"/>
            <a:ext cx="3749039" cy="5029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l"/>
            <a:r>
              <a:rPr sz="1100" b="0">
                <a:solidFill>
                  <a:srgbClr val="65728A"/>
                </a:solidFill>
                <a:latin typeface="Aptos"/>
              </a:rPr>
              <a:t>Pengguna dapat membuka kartu untuk melihat riwayat tahap lamaran.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166360" y="914400"/>
            <a:ext cx="1005840" cy="1005840"/>
          </a:xfrm>
          <a:prstGeom prst="ellipse">
            <a:avLst/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60" y="9144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3200" b="1">
                <a:solidFill>
                  <a:srgbClr val="172B4D"/>
                </a:solidFill>
                <a:latin typeface="Aptos"/>
              </a:rPr>
              <a:t>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331720"/>
            <a:ext cx="6675120" cy="73152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154680"/>
            <a:ext cx="6675120" cy="4572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700" b="0">
                <a:solidFill>
                  <a:srgbClr val="DCE5F5"/>
                </a:solidFill>
                <a:latin typeface="Aptos"/>
              </a:rPr>
              <a:t>KERJAIN — Cari kerja. Lebih mudah.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977639"/>
            <a:ext cx="8138160" cy="685800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1400" b="0">
                <a:solidFill>
                  <a:srgbClr val="DCE5F5"/>
                </a:solidFill>
                <a:latin typeface="Aptos"/>
              </a:rPr>
              <a:t>Desain ulang aplikasi pencari kerja dengan navigasi sederhana dan informasi yang jelas.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5166360"/>
            <a:ext cx="2834640" cy="292608"/>
          </a:xfrm>
          <a:prstGeom prst="roundRect">
            <a:avLst>
              <a:gd name="adj" fmla="val 16000"/>
            </a:avLst>
          </a:prstGeom>
          <a:solidFill>
            <a:srgbClr val="C7F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5175504"/>
            <a:ext cx="276148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72B4D"/>
                </a:solidFill>
                <a:latin typeface="Aptos"/>
              </a:rPr>
              <a:t>SIMPLE • CLEAR • FRIENDLY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